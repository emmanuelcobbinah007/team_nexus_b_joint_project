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2004"/>
          </a:xfrm>
          <a:prstGeom prst="rect">
            <a:avLst/>
          </a:prstGeom>
          <a:solidFill>
            <a:srgbClr val="D9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F0EE"/>
                </a:solidFill>
                <a:latin typeface="Calibri"/>
              </a:rPr>
              <a:t>DCIT 204/308 JOINT DATA STRUCTURES &amp; ALGORITHMS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Hospital &amp; Clinic Operations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F0EE"/>
                </a:solidFill>
                <a:latin typeface="Calibri"/>
              </a:rPr>
              <a:t>Team Nexus B  ·  Group 29  ·  University of 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9D6"/>
                </a:solidFill>
                <a:latin typeface="Calibri"/>
              </a:rPr>
              <a:t>A dispatch, triage, and routing system for a real Greater Accra health network — every data structure and algorithm the brief requires, built from scratch and put to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The scenario — why a hospital network, not a hospital building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System architecture — how 15 people shared one codebase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Data structures — one per sub-team, why each was chosen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Algorithms — tied directly to real dispatch/triage/routing questions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The live web console — a real satellite map, not a diagram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Testing, performance, and the real bugs we found along the way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16202E"/>
                </a:solidFill>
                <a:latin typeface="Calibri"/>
              </a:rPr>
              <a:t>•  Limitations we're naming on purpose, and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THE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One district health network, six real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0D6E6E"/>
                </a:solidFill>
                <a:latin typeface="Calibri"/>
              </a:rPr>
              <a:t>•  117 real facilities,  </a:t>
            </a:r>
            <a:r>
              <a:rPr sz="1700">
                <a:solidFill>
                  <a:srgbClr val="16202E"/>
                </a:solidFill>
                <a:latin typeface="Calibri"/>
              </a:rPr>
              <a:t>Greater Accra — teaching hospitals down to CHPS compounds and ambulance stations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0D6E6E"/>
                </a:solidFill>
                <a:latin typeface="Calibri"/>
              </a:rPr>
              <a:t>•  290 road links,  </a:t>
            </a:r>
            <a:r>
              <a:rPr sz="1700">
                <a:solidFill>
                  <a:srgbClr val="16202E"/>
                </a:solidFill>
                <a:latin typeface="Calibri"/>
              </a:rPr>
              <a:t>real distance, travel time, traffic, and condition data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0D6E6E"/>
                </a:solidFill>
                <a:latin typeface="Calibri"/>
              </a:rPr>
              <a:t>•  306 synthetic cases  </a:t>
            </a:r>
            <a:r>
              <a:rPr sz="1700">
                <a:solidFill>
                  <a:srgbClr val="16202E"/>
                </a:solidFill>
                <a:latin typeface="Calibri"/>
              </a:rPr>
              <a:t>and 32 resources, generated from an index-number-derived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10515600" cy="18288"/>
          </a:xfrm>
          <a:prstGeom prst="rect">
            <a:avLst/>
          </a:prstGeom>
          <a:solidFill>
            <a:srgbClr val="5C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5C6B80"/>
                </a:solidFill>
                <a:latin typeface="Calibri"/>
              </a:rPr>
              <a:t>•  Which case gets served next — FIFO, urgency, or priority?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C6B80"/>
                </a:solidFill>
                <a:latin typeface="Calibri"/>
              </a:rPr>
              <a:t>•  What's the fastest route under current road conditions?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C6B80"/>
                </a:solidFill>
                <a:latin typeface="Calibri"/>
              </a:rPr>
              <a:t>•  Which facilities are still reachable if roads close?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C6B80"/>
                </a:solidFill>
                <a:latin typeface="Calibri"/>
              </a:rPr>
              <a:t>•  Which resource combination fits a fixed budget?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C6B80"/>
                </a:solidFill>
                <a:latin typeface="Calibri"/>
              </a:rPr>
              <a:t>•  How do alternative structures perform as the data grows?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WHY THIS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Every structure needed a real reason to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6202E"/>
                </a:solidFill>
                <a:latin typeface="Calibri"/>
              </a:rPr>
              <a:t>A single hospital doesn't have fifty locations connected by a hundred roads — modelling corridors as roads would look 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5C6B80"/>
                </a:solidFill>
                <a:latin typeface="Calibri"/>
              </a:rPr>
              <a:t>A district network of real facilities linked by real Accra roads gives a genuine map, genuine travel times, and a genuine reason for every algorithm the brief requires — including the strongest possible demonstration of a priority queue, since triage is exactly what one was invented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One package per sub-team, one frozen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852160"/>
                <a:gridCol w="1371600"/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Package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Owns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Sub-team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core/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Shared interfaces only — frozen after interface 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data/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CSV loading, SQLite schema/DAO, console demo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linear/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Array list, linked list, stack, deque, queue, 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trees/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BST, Red-Black tree, B-tree, hash table, hash set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graphs/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Graph reps, disjoint set, BFS/DFS/Dijkstra/Kruskal/Prim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algorithms/ + bench/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Sorting, searching, benchmark framework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optimization/, scheduling/, app/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Greedy dispatch, knapsack DP, triage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web/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Live HTTP API + browser frontend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shared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THE HARD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Everything built from scratch, on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No java.util collections  </a:t>
            </a:r>
            <a:r>
              <a:rPr sz="1600">
                <a:solidFill>
                  <a:srgbClr val="16202E"/>
                </a:solidFill>
                <a:latin typeface="Calibri"/>
              </a:rPr>
              <a:t>outside data/ and bench/ — ArrayList, HashMap, PriorityQueue, Stack, LinkedList, ArrayDeque, TreeMap/TreeSet all banned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Enforced by CI,  </a:t>
            </a:r>
            <a:r>
              <a:rPr sz="1600">
                <a:solidFill>
                  <a:srgbClr val="16202E"/>
                </a:solidFill>
                <a:latin typeface="Calibri"/>
              </a:rPr>
              <a:t>not convention — a forgotten import fails the build automatically on every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10515600" cy="18288"/>
          </a:xfrm>
          <a:prstGeom prst="rect">
            <a:avLst/>
          </a:prstGeom>
          <a:solidFill>
            <a:srgbClr val="5C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Every structure is Instrumented:  </a:t>
            </a:r>
            <a:r>
              <a:rPr sz="1600">
                <a:solidFill>
                  <a:srgbClr val="16202E"/>
                </a:solidFill>
                <a:latin typeface="Calibri"/>
              </a:rPr>
              <a:t>a cheap, resettable comparison/movement counter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Why:  </a:t>
            </a:r>
            <a:r>
              <a:rPr sz="1600">
                <a:solidFill>
                  <a:srgbClr val="16202E"/>
                </a:solidFill>
                <a:latin typeface="Calibri"/>
              </a:rPr>
              <a:t>wall-clock timings vary across 15 laptops; comparison counts don't — independent, machine-agnostic evidence when a benchmark graph looks noisy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Built from arrays up, each with a real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Real job in this system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Binary heap priority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Triage — always serve the highest-severity waiting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BST vs. Red-Black tree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Proves why balance matters: BST degrades to O(n) on sorted input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B-tree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Chosen for the time-range case index — fewer hops per range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Chained hash table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O(1)-average case-reference lookup, exposes collision/resize stats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Adjacency list / matrix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The road network — one interface, two interchangeable representations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Disjoint set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Cycle detection inside Kruskal's MST construction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Array stack / deque /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Undo trail, iterative DFS, urgent-case-to-front 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F0EE"/>
                </a:solidFill>
                <a:latin typeface="Calibri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Algorithms, tied to the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D9D6"/>
                </a:solidFill>
                <a:latin typeface="Calibri"/>
              </a:rPr>
              <a:t>Every algorithm below exists because the scenario needed the specific question it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Dijkstra — “what's the fastest route right now?”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6E6E"/>
                </a:solidFill>
                <a:latin typeface="Calibri"/>
              </a:rPr>
              <a:t>Scenario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6202E"/>
                </a:solidFill>
                <a:latin typeface="Calibri"/>
              </a:rPr>
              <a:t>Given an ambulance station and a case, what's the fastest route under current road conditions?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D6E6E"/>
                </a:solidFill>
                <a:latin typeface="Consolas"/>
              </a:rPr>
              <a:t>O((V+E) log V)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with a binary heap frontier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D6E6E"/>
                </a:solidFill>
                <a:latin typeface="Consolas"/>
              </a:rPr>
              <a:t>290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directed edges routed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C6B80"/>
                </a:solidFill>
                <a:latin typeface="Calibri"/>
              </a:rPr>
              <a:t>•  Own vertex-index bookkeeping (no library object identity)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C6B80"/>
                </a:solidFill>
                <a:latin typeface="Calibri"/>
              </a:rPr>
              <a:t>•  Edge weight = base time × traffic × road condition, not raw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54880" cy="4572000"/>
          </a:xfrm>
          <a:prstGeom prst="rect">
            <a:avLst/>
          </a:prstGeom>
          <a:solidFill>
            <a:srgbClr val="16202E"/>
          </a:solidFill>
        </p:spPr>
        <p:txBody>
          <a:bodyPr wrap="square" lIns="228600" tIns="2286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while (!queue.isEmpty()) {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Entry current = queue.extractTop();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int u = indexOf(ids, current.vertexId);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finalized[u] = true;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// relax each outgoing edge...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BFS reachability &amp; DFS cycle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BFS — O(V+E):  </a:t>
            </a:r>
            <a:r>
              <a:rPr sz="1600">
                <a:solidFill>
                  <a:srgbClr val="16202E"/>
                </a:solidFill>
                <a:latin typeface="Calibri"/>
              </a:rPr>
              <a:t>which facilities are still reachable if specific roads close? Exercised live in the web console's “close road”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DFS — O(V+E):  </a:t>
            </a:r>
            <a:r>
              <a:rPr sz="1600">
                <a:solidFill>
                  <a:srgbClr val="16202E"/>
                </a:solidFill>
                <a:latin typeface="Calibri"/>
              </a:rPr>
              <a:t>is there a referral loop? Two-state (on-stack/finished) tracking avoids a false positive on a diamond-shaped DAG that a naive visited-only check would misreport as a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RESUPPLY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Kruskal &amp; Prim — the cheapest network that stays connected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6202E"/>
                </a:solidFill>
                <a:latin typeface="Calibri"/>
              </a:rPr>
              <a:t>Scenario question: planning a fixed resupply backbone (not a single trip) — what's the minimum-cost set of roads keeping every facility connected?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8A4C"/>
                </a:solidFill>
                <a:latin typeface="Consolas"/>
              </a:rPr>
              <a:t>116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MST edges (V-1)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6517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8A4C"/>
                </a:solidFill>
                <a:latin typeface="Consolas"/>
              </a:rPr>
              <a:t>302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total weight, real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6517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8A4C"/>
                </a:solidFill>
                <a:latin typeface="Consolas"/>
              </a:rPr>
              <a:t>O(E log V)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both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Kruskal: sort edges, union-find to reject cycles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Prim: grow one tree, always take the cheapest frontier edge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Cross-checked against each other for identical total 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A REAL BUG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Prim's hidden O(V)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02E"/>
                </a:solidFill>
                <a:latin typeface="Calibri"/>
              </a:rPr>
              <a:t>A benchmark comparing Prim against Kruskal on the same graph found Prim 55–70× slower — for no algorithmic reason.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606040"/>
          <a:ext cx="7863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2377440"/>
                <a:gridCol w="182880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|V|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(linear scan)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(hash lookup)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1.58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0.88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1.8×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7.92 ms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2.48 ms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3.2×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87.19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9.42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9.3×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C6B80"/>
                </a:solidFill>
                <a:latin typeface="Calibri"/>
              </a:rPr>
              <a:t>•  Root cause: an O(V) linear scan to map vertex ID to index, called on every edge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C6B80"/>
                </a:solidFill>
                <a:latin typeface="Calibri"/>
              </a:rPr>
              <a:t>•  Fixed with a hash-table lookup built once — same MST weight, correct complexity restored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DISPATCH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Greedy vs. optimal — the required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02E"/>
                </a:solidFill>
                <a:latin typeface="Calibri"/>
              </a:rPr>
              <a:t>One resource, several waiting cases at different distances and urgency — what order minimizes harm?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solidFill>
            <a:srgbClr val="16202E"/>
          </a:solidFill>
        </p:spPr>
        <p:txBody>
          <a:bodyPr wrap="square" lIns="274320" tIns="18288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GREEDY:  sort by  distance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OPTIMAL: sort by  distance × triageLevel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C0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C0293B"/>
                </a:solidFill>
                <a:latin typeface="Consolas"/>
              </a:rPr>
              <a:t>8.75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greedy penalty (worse)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84048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8A4C"/>
                </a:solidFill>
                <a:latin typeface="Consolas"/>
              </a:rPr>
              <a:t>7.00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optimal penalty (better)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C6B80"/>
                </a:solidFill>
                <a:latin typeface="Calibri"/>
              </a:rPr>
              <a:t>The single multiplication is the entire mechanism: greedy privileges proximity over urgency without saying so. Both are reported, side by side — hiding the greedy result would have been the irresponsible choice.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0/1 Knapsack DP — fitting the shift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6202E"/>
                </a:solidFill>
                <a:latin typeface="Calibri"/>
              </a:rPr>
              <a:t>Given a fixed shift budget, which resource combination maximizes value without exceeding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D6E6E"/>
                </a:solidFill>
                <a:latin typeface="Consolas"/>
              </a:rPr>
              <a:t>O(n · capacity)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time and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solidFill>
            <a:srgbClr val="16202E"/>
          </a:solidFill>
        </p:spPr>
        <p:txBody>
          <a:bodyPr wrap="square" lIns="228600" tIns="18288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if (i == 0) {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dp[i][w] = 0;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} else if (weights[i-1] &lt;= w) {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dp[i][w] = max(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values[i-1] + dp[i-1][w-weights[i-1]],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dp[i-1][w]);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80"/>
                </a:solidFill>
                <a:latin typeface="Calibri"/>
              </a:rPr>
              <a:t>Real bug found: the original base case zeroed dp[i][0] for every row, silently dropping a zero-weight item even at zero capacity. Caught while writing a boundary test, fixed to the correct base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ORDERING &amp;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Sorting, searching, hashing, and indexing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4 sorts, 2 searches:  </a:t>
            </a:r>
            <a:r>
              <a:rPr sz="1600">
                <a:solidFill>
                  <a:srgbClr val="16202E"/>
                </a:solidFill>
                <a:latin typeface="Calibri"/>
              </a:rPr>
              <a:t>merge, quick, insertion, selection; linear and binary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C0293B"/>
                </a:solidFill>
                <a:latin typeface="Calibri"/>
              </a:rPr>
              <a:t>Required counterexample: binary search on unsorted input silently returns “not found” for a present element — the sortedness precondition is load-bearing, and violating it is a correctness bug, not an exception.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10515600" cy="18288"/>
          </a:xfrm>
          <a:prstGeom prst="rect">
            <a:avLst/>
          </a:prstGeom>
          <a:solidFill>
            <a:srgbClr val="5C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Case lookup:  </a:t>
            </a:r>
            <a:r>
              <a:rPr sz="1600">
                <a:solidFill>
                  <a:srgbClr val="16202E"/>
                </a:solidFill>
                <a:latin typeface="Calibri"/>
              </a:rPr>
              <a:t>chained hash table, O(1) average, auto-resizes past a 0.75 load factor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Time-range query:  </a:t>
            </a:r>
            <a:r>
              <a:rPr sz="1600">
                <a:solidFill>
                  <a:srgbClr val="16202E"/>
                </a:solidFill>
                <a:latin typeface="Calibri"/>
              </a:rPr>
              <a:t>B-tree, chosen after comparing it against the Red-Black tree for this exact access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WHERE IT ALL MEETS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The triage/dispatch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FCFS mode:  </a:t>
            </a:r>
            <a:r>
              <a:rPr sz="1600">
                <a:solidFill>
                  <a:srgbClr val="16202E"/>
                </a:solidFill>
                <a:latin typeface="Calibri"/>
              </a:rPr>
              <a:t>serves cases in arrival order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D6E6E"/>
                </a:solidFill>
                <a:latin typeface="Calibri"/>
              </a:rPr>
              <a:t>•  Priority mode:  </a:t>
            </a:r>
            <a:r>
              <a:rPr sz="1600">
                <a:solidFill>
                  <a:srgbClr val="16202E"/>
                </a:solidFill>
                <a:latin typeface="Calibri"/>
              </a:rPr>
              <a:t>always serves the highest-severity waiting case, via the binary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6202E"/>
                </a:solidFill>
                <a:latin typeface="Calibri"/>
              </a:rPr>
              <a:t>Benchmarked at scale: priority mode's raw average wait is consistently worse, not better — and that's correct. It deliberately makes low-severity cases wait longer so high-severity cases get served fast. The trade only reads as an improvement once wait is weighted by severity.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B80"/>
                </a:solidFill>
                <a:latin typeface="Calibri"/>
              </a:rPr>
              <a:t>Real bug found: FCFS mode originally trusted caller-provided order instead of sorting by arrival time — correct only by coincidence for one hardcoded demo list. Found while making it testable, fixed.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A real satellite map, not a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Zero new dependencies:  </a:t>
            </a:r>
            <a:r>
              <a:rPr sz="1500">
                <a:solidFill>
                  <a:srgbClr val="16202E"/>
                </a:solidFill>
                <a:latin typeface="Calibri"/>
              </a:rPr>
              <a:t>a bare com.sun.net.httpserver.HttpServer, hand-rolled JSON — the same build-it-yourself standard as everywhere else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Every response calls the real algorithm classes  </a:t>
            </a:r>
            <a:r>
              <a:rPr sz="1500">
                <a:solidFill>
                  <a:srgbClr val="16202E"/>
                </a:solidFill>
                <a:latin typeface="Calibri"/>
              </a:rPr>
              <a:t>— nothing in the API layer re-implements anything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Leaflet + Esri satellite imagery,  </a:t>
            </a:r>
            <a:r>
              <a:rPr sz="1500">
                <a:solidFill>
                  <a:srgbClr val="16202E"/>
                </a:solidFill>
                <a:latin typeface="Calibri"/>
              </a:rPr>
              <a:t>117 real facilities and roads at their actual coordinates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Results auto-focus,  </a:t>
            </a:r>
            <a:r>
              <a:rPr sz="1500">
                <a:solidFill>
                  <a:srgbClr val="16202E"/>
                </a:solidFill>
                <a:latin typeface="Calibri"/>
              </a:rPr>
              <a:t>zoom to the nodes involved, and show direction with arrows computed from real compass bearing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6E6E"/>
                </a:solidFill>
                <a:latin typeface="Consolas"/>
              </a:rPr>
              <a:t>mvn compile exec:java -Dexec.mainClass=edu.ug.nexusb.web.ApiServer  →  http://localhost:8080/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CORRECTNESS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Verified by running it, not asserted from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1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8A4C"/>
                </a:solidFill>
                <a:latin typeface="Consolas"/>
              </a:rPr>
              <a:t>459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tests, all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D6E6E"/>
                </a:solidFill>
                <a:latin typeface="Consolas"/>
              </a:rPr>
              <a:t>8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trace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288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D6E6E"/>
                </a:solidFill>
                <a:latin typeface="Consolas"/>
              </a:rPr>
              <a:t>4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proof sketches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B57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B5720B"/>
                </a:solidFill>
                <a:latin typeface="Consolas"/>
              </a:rPr>
              <a:t>2</a:t>
            </a:r>
          </a:p>
          <a:p>
            <a:pPr algn="ctr"/>
            <a:r>
              <a:rPr sz="1100">
                <a:solidFill>
                  <a:srgbClr val="5C6B80"/>
                </a:solidFill>
              </a:rPr>
              <a:t>counterexamples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Every structure/algorithm tested for normal, boundary, and invalid-input cases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Audited directly — a hand-rolled DisjointSetTest with no working @Test annotations, silently never run, was caught this way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6202E"/>
                </a:solidFill>
                <a:latin typeface="Calibri"/>
              </a:rPr>
              <a:t>•  Every trace table, proof, and benchmark number generated by actually running the real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Six experiments, real data, real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Headline result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Search &amp; sort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Matches expected O(n) / O(n log n) classes at 100–10,000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Hash table load factor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Longest bucket never exceeds 6 across 100–20,000 keys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BST vs. balanced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BST height = N-1 exactly on sorted input; RB tree stays O(log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Heap insert/extract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Extract consistently costlier than insert — correct sift-down asymmetry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Graph algorithms vs.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Prim's fix restored expected O(E log V)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Triage priority vs. FCFS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02E"/>
                          </a:solidFill>
                        </a:rPr>
                        <a:t>Priority mode trades average wait for severity-weighted fairness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A REAL DATA BUG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The road network was a fragile spanning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C0293B"/>
                </a:solidFill>
                <a:latin typeface="Calibri"/>
              </a:rPr>
              <a:t>•  15 roads flagged one-way with no reverse road — 64 of 117 facilities unreachable from Korle Bu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0293B"/>
                </a:solidFill>
                <a:latin typeface="Calibri"/>
              </a:rPr>
              <a:t>•  Even after fixing that: zero redundancy anywhere — every road was a single point of failure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3832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Reachable from Korle Bu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53 /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117 /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A real route (F001 → F081)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33 hops, 126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E"/>
                          </a:solidFill>
                        </a:rPr>
                        <a:t>4 hops, 15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C6B80"/>
                </a:solidFill>
                <a:latin typeface="Calibri"/>
              </a:rPr>
              <a:t>Fixed with one added road per facility that had degree ≤ 1 (29 facilities), connected to its nearest previously-unconnected geographic neighbor — seeded for reproducibility.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6E6E"/>
                </a:solidFill>
                <a:latin typeface="Calibri"/>
              </a:rPr>
              <a:t>LIMITATIONS, NAMED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02E"/>
                </a:solidFill>
                <a:latin typeface="Calibri"/>
              </a:rPr>
              <a:t>What we know isn't finished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assignment table  </a:t>
            </a:r>
            <a:r>
              <a:rPr sz="1500">
                <a:solidFill>
                  <a:srgbClr val="16202E"/>
                </a:solidFill>
                <a:latin typeface="Calibri"/>
              </a:rPr>
              <a:t>is defined but no code path writes to it yet — dispatch commits an audit event but not the resource-to-case pairing itself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Time-range index  </a:t>
            </a:r>
            <a:r>
              <a:rPr sz="1500">
                <a:solidFill>
                  <a:srgbClr val="16202E"/>
                </a:solidFill>
                <a:latin typeface="Calibri"/>
              </a:rPr>
              <a:t>compares timestamps as plain text — correct for this dataset's consistent format, not a general solution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0D6E6E"/>
                </a:solidFill>
                <a:latin typeface="Calibri"/>
              </a:rPr>
              <a:t>•  Unweighted triage metric  </a:t>
            </a:r>
            <a:r>
              <a:rPr sz="1500">
                <a:solidFill>
                  <a:srgbClr val="16202E"/>
                </a:solidFill>
                <a:latin typeface="Calibri"/>
              </a:rPr>
              <a:t>— a genuine follow-up would rerun T072 with a severity-weighted wait metric to directly confirm priority mode wins under the metric it's actually designed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F0EE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Six real questions, answered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Every structure and algorithm built from scratch, tied to a real dispatch/triage/routing need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459 tests, 8 traces, 4 proofs, 2 counterexamples, 6 benchmark experiments — all verified by execution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Three genuine algorithmic bugs found and fixed by testing and benchmarking, not code review alone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A live, interactive console anyone can open and try against the real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F0EE"/>
                </a:solidFill>
                <a:latin typeface="Calibri"/>
              </a:rPr>
              <a:t>Team Nexus B · Group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B8D9D6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